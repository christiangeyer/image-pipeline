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94648"/>
  </p:normalViewPr>
  <p:slideViewPr>
    <p:cSldViewPr snapToGrid="0">
      <p:cViewPr varScale="1">
        <p:scale>
          <a:sx n="107" d="100"/>
          <a:sy n="107" d="100"/>
        </p:scale>
        <p:origin x="2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3F0F-C87B-16F0-831D-0BDD8F799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4FCED-A31E-F6E6-41FE-48EB57CA6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CEB5-6CFE-F3FD-4191-11E970A8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A907-14EF-BD7B-0D8F-EB24FA43A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08957-54BA-9C1D-822F-D4E2A935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7531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0391-408F-AB45-693D-FCC182F3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14D5B-492E-576D-289E-916FDC5E4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E42A-31F5-6BD0-02E4-6A5F48D6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3213-8340-9022-81CF-863D8C1F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4F347-4F8F-071E-AF2C-E1F2B4CC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109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7E74-AD2D-BFA5-BD3D-72EE8355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74A04-377E-F704-5F4C-0688CA1C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0F2F-83B5-0943-8593-985D7CE5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7198-1860-BF34-EBD1-73BD6FA4F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B98D6-04C0-39E0-8147-CC665036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6077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EEB2-5F8B-B96C-67B9-7125DE02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0A841-ADF4-9248-4990-8FC7A8B5B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D35C-86BF-09D3-B7A0-6EA0F91A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44180-2F8B-D7BA-517F-C9298C62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59D20-83AE-8C6F-CFE7-3CC57E78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FB107-0777-938D-EA60-6A005FA5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0793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0190-2850-A556-434C-02DBDA1D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6452-8130-E0B1-4B5C-DC2885AA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3D732-70B6-BBC3-C6AE-BDC409F2E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14F1E-36CB-D885-B6B3-10235EDF6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4637-EBD4-4355-6D0F-7A0D9DFE8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94F63-4285-B500-5781-27165A85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51315-CF8A-2CCD-0AB9-713F30F5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EFD4A-39BD-DF55-8E9B-38F73FB5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60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BF64-581F-8160-199E-42AE4DDD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DC9F6-BC89-DDFA-8503-6D6BEB75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7EB67-92E0-B228-BD7A-A5967D1A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501AA-FE41-6DF6-D9C7-D20EEBC1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9506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565EB-0BD3-19B6-56B9-573F8801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DC612-2022-6DDE-3E1B-3696473E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BD56-C4EF-EE64-2047-F54E025D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7880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FF2E-FF60-D2AD-0AF7-DFE6C6C5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7F24-CE85-E867-583D-8AAEAAB3A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50FD0-86FD-6396-FAF5-329DB2521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69C07-38E1-638E-BC61-385E69E6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CBDD5-FC15-8662-D093-744CAFE9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A20D9-C0D6-1757-DBA1-827A66D5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2068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E586-AD7C-AFED-B94C-73D988F8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60CAB-E32D-2A22-BC0D-866FED449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54DA5-F3A7-EA8F-15C0-97E3646CF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5FB88-B8FF-715F-8D1F-EE76F609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A9287-8AB0-0243-8B0F-064AE830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13C93-53A5-EFA0-E363-771EA4D4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567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C330-E2E7-00D7-2630-1CF111A3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039B9-782D-2379-6391-5C0EB920F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A1175-86D5-1C63-6A67-44B1EAB8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F8C7-9184-AEA8-7F28-7495E84F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5E77B-C930-A720-3B8C-AF058006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7499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CF122-1843-2008-24AD-6B85ECE9A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DD9FC-3EEC-4E34-2438-93FF8013E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7080-3A78-A34C-50C4-37C00534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344B4-1AE4-0023-0B9E-B2699686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6C94-8398-6A15-1FE6-3C99A397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2918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E53B7-1E9F-D337-0EC8-A5B6C085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347A8-BF53-37E6-798A-E6DC1828B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DCA50-C80C-FF99-E6CF-43537D42B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BBC11-5536-7F4C-953B-7F49FCB5339F}" type="datetimeFigureOut">
              <a:rPr lang="en-PT" smtClean="0"/>
              <a:t>27/01/2026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0BB03-827E-F752-C61F-59DB5F248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A012F-5F7A-CC3C-2C26-FF4B14C40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F3FD1-6CA3-C842-B253-DCD307427FF6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5080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EB82-E3E6-7D6D-F525-20A07DBDA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T" dirty="0"/>
              <a:t>ATCS – Automatic Target Classification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D8C98-031F-558A-4AF9-E7AF84582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T" dirty="0"/>
              <a:t>Student: Christian Geyer	</a:t>
            </a:r>
          </a:p>
          <a:p>
            <a:r>
              <a:rPr lang="en-PT" dirty="0"/>
              <a:t>Supervisor: </a:t>
            </a:r>
            <a:r>
              <a:rPr lang="en-GB" dirty="0"/>
              <a:t> Prof. Armando Luís Sousa Araújo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68697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14AA-ABB0-CF9F-D347-4CDACE67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5910-0B8A-FEC8-50E4-680CA0551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ISSF - International Sport Shooting Federation</a:t>
            </a:r>
          </a:p>
          <a:p>
            <a:r>
              <a:rPr lang="en-PT" dirty="0"/>
              <a:t>Existing Technologies</a:t>
            </a:r>
          </a:p>
          <a:p>
            <a:pPr lvl="1"/>
            <a:r>
              <a:rPr lang="en-GB" dirty="0"/>
              <a:t>H</a:t>
            </a:r>
            <a:r>
              <a:rPr lang="en-PT" dirty="0"/>
              <a:t>igh accuracy</a:t>
            </a:r>
          </a:p>
          <a:p>
            <a:pPr lvl="1"/>
            <a:r>
              <a:rPr lang="en-PT" dirty="0"/>
              <a:t>High Cost</a:t>
            </a:r>
          </a:p>
          <a:p>
            <a:pPr lvl="1"/>
            <a:r>
              <a:rPr lang="en-PT" dirty="0"/>
              <a:t>Specialized Hardware</a:t>
            </a:r>
          </a:p>
          <a:p>
            <a:r>
              <a:rPr lang="en-PT" dirty="0"/>
              <a:t>Need for an alternative low cost solution</a:t>
            </a:r>
          </a:p>
          <a:p>
            <a:pPr lvl="1"/>
            <a:endParaRPr lang="en-PT" dirty="0"/>
          </a:p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09139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B153-888D-E29D-821E-255247D7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788" y="365125"/>
            <a:ext cx="6893011" cy="1325563"/>
          </a:xfrm>
        </p:spPr>
        <p:txBody>
          <a:bodyPr/>
          <a:lstStyle/>
          <a:p>
            <a:r>
              <a:rPr lang="en-PT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6B10A-4928-E189-D186-FBB541FA4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788" y="1825625"/>
            <a:ext cx="6893011" cy="4351338"/>
          </a:xfrm>
        </p:spPr>
        <p:txBody>
          <a:bodyPr/>
          <a:lstStyle/>
          <a:p>
            <a:r>
              <a:rPr lang="en-PT" dirty="0"/>
              <a:t>Vision-based system</a:t>
            </a:r>
          </a:p>
          <a:p>
            <a:pPr lvl="1"/>
            <a:r>
              <a:rPr lang="en-GB" dirty="0"/>
              <a:t>L</a:t>
            </a:r>
            <a:r>
              <a:rPr lang="en-PT" dirty="0"/>
              <a:t>ow-cost</a:t>
            </a:r>
          </a:p>
          <a:p>
            <a:pPr lvl="1"/>
            <a:r>
              <a:rPr lang="en-PT" dirty="0"/>
              <a:t>Enough Accuracy</a:t>
            </a:r>
          </a:p>
          <a:p>
            <a:r>
              <a:rPr lang="en-PT" dirty="0"/>
              <a:t>ISSF paper targets</a:t>
            </a:r>
          </a:p>
        </p:txBody>
      </p:sp>
      <p:pic>
        <p:nvPicPr>
          <p:cNvPr id="5" name="Picture 4" descr="A paper target with a black circle&#10;&#10;AI-generated content may be incorrect.">
            <a:extLst>
              <a:ext uri="{FF2B5EF4-FFF2-40B4-BE49-F238E27FC236}">
                <a16:creationId xmlns:a16="http://schemas.microsoft.com/office/drawing/2014/main" id="{708F1830-942B-5F8F-8950-35A506A0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13" y="189727"/>
            <a:ext cx="2911819" cy="2911819"/>
          </a:xfrm>
          <a:prstGeom prst="rect">
            <a:avLst/>
          </a:prstGeom>
        </p:spPr>
      </p:pic>
      <p:pic>
        <p:nvPicPr>
          <p:cNvPr id="7" name="Picture 6" descr="A paper target with black circles&#10;&#10;AI-generated content may be incorrect.">
            <a:extLst>
              <a:ext uri="{FF2B5EF4-FFF2-40B4-BE49-F238E27FC236}">
                <a16:creationId xmlns:a16="http://schemas.microsoft.com/office/drawing/2014/main" id="{24117C92-643B-0442-15E4-763833B9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13" y="3429000"/>
            <a:ext cx="2911819" cy="29118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56CE32-E55F-E3E7-540F-47CA740F4E4A}"/>
              </a:ext>
            </a:extLst>
          </p:cNvPr>
          <p:cNvSpPr txBox="1"/>
          <p:nvPr/>
        </p:nvSpPr>
        <p:spPr>
          <a:xfrm>
            <a:off x="1680718" y="3059668"/>
            <a:ext cx="144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10m-air-rifle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17128-352A-352C-34E0-E7CA1F4DB40F}"/>
              </a:ext>
            </a:extLst>
          </p:cNvPr>
          <p:cNvSpPr txBox="1"/>
          <p:nvPr/>
        </p:nvSpPr>
        <p:spPr>
          <a:xfrm>
            <a:off x="1608309" y="6342622"/>
            <a:ext cx="159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10m-air-pistol</a:t>
            </a:r>
          </a:p>
        </p:txBody>
      </p:sp>
    </p:spTree>
    <p:extLst>
      <p:ext uri="{BB962C8B-B14F-4D97-AF65-F5344CB8AC3E}">
        <p14:creationId xmlns:p14="http://schemas.microsoft.com/office/powerpoint/2010/main" val="156365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B459-FF0E-AD44-192E-9B766A70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Accuracy Requirements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179C3CA1-B90A-B857-DE82-6F8554F29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298" y="1989371"/>
            <a:ext cx="4599578" cy="3027472"/>
          </a:xfrm>
        </p:spPr>
      </p:pic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1C9FE58B-FFFC-9B8D-6B06-0111E64B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569888"/>
            <a:ext cx="4815703" cy="171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7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9F58-F39E-84D7-59E6-753929EA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Classical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715D-DB59-B277-B68A-9E36718E9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627" y="2000207"/>
            <a:ext cx="3375454" cy="2857586"/>
          </a:xfrm>
        </p:spPr>
        <p:txBody>
          <a:bodyPr>
            <a:normAutofit/>
          </a:bodyPr>
          <a:lstStyle/>
          <a:p>
            <a:r>
              <a:rPr lang="en-PT" sz="1600" dirty="0"/>
              <a:t>Thresholding</a:t>
            </a:r>
          </a:p>
          <a:p>
            <a:r>
              <a:rPr lang="en-PT" sz="1600" dirty="0"/>
              <a:t>Morphological</a:t>
            </a:r>
          </a:p>
          <a:p>
            <a:r>
              <a:rPr lang="en-PT" sz="1600" dirty="0"/>
              <a:t>Contours</a:t>
            </a:r>
          </a:p>
          <a:p>
            <a:r>
              <a:rPr lang="en-PT" sz="1600" dirty="0"/>
              <a:t>Moments</a:t>
            </a:r>
          </a:p>
          <a:p>
            <a:r>
              <a:rPr lang="en-PT" sz="1600" dirty="0"/>
              <a:t>Circle Regression</a:t>
            </a:r>
          </a:p>
          <a:p>
            <a:r>
              <a:rPr lang="en-PT" sz="1600" dirty="0"/>
              <a:t>Watershed</a:t>
            </a:r>
          </a:p>
          <a:p>
            <a:r>
              <a:rPr lang="en-PT" sz="1600" dirty="0"/>
              <a:t>Hough</a:t>
            </a:r>
          </a:p>
          <a:p>
            <a:r>
              <a:rPr lang="en-PT" sz="1600" dirty="0"/>
              <a:t>Temporal Differencing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2086A-9707-1B1B-D5EE-5340F9C14825}"/>
              </a:ext>
            </a:extLst>
          </p:cNvPr>
          <p:cNvSpPr txBox="1"/>
          <p:nvPr/>
        </p:nvSpPr>
        <p:spPr>
          <a:xfrm>
            <a:off x="5553333" y="2000207"/>
            <a:ext cx="4621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sz="2400" dirty="0"/>
              <a:t>High Accuracy for good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sz="2400" dirty="0"/>
              <a:t>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Not robust</a:t>
            </a:r>
            <a:endParaRPr lang="en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93574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2BDA-D402-B9BE-86B9-65E4C917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Deep-Learning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B2DB4-E838-541C-F886-83612E8C7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77497" cy="3080007"/>
          </a:xfrm>
        </p:spPr>
        <p:txBody>
          <a:bodyPr/>
          <a:lstStyle/>
          <a:p>
            <a:r>
              <a:rPr lang="fr-CH" sz="1600" dirty="0"/>
              <a:t>CNN</a:t>
            </a:r>
          </a:p>
          <a:p>
            <a:r>
              <a:rPr lang="fr-CH" sz="1600" dirty="0" err="1"/>
              <a:t>Detection</a:t>
            </a:r>
            <a:endParaRPr lang="fr-CH" sz="1600" dirty="0"/>
          </a:p>
          <a:p>
            <a:r>
              <a:rPr lang="fr-CH" sz="1600" dirty="0"/>
              <a:t>Segmentation</a:t>
            </a:r>
          </a:p>
          <a:p>
            <a:r>
              <a:rPr lang="fr-CH" sz="1600" dirty="0" err="1"/>
              <a:t>Regression</a:t>
            </a:r>
            <a:endParaRPr lang="fr-CH" sz="1600" dirty="0"/>
          </a:p>
          <a:p>
            <a:r>
              <a:rPr lang="fr-CH" sz="1600" dirty="0"/>
              <a:t>Yolov8 (1-stage)</a:t>
            </a:r>
          </a:p>
          <a:p>
            <a:r>
              <a:rPr lang="fr-CH" sz="1600" dirty="0" err="1"/>
              <a:t>Faster</a:t>
            </a:r>
            <a:r>
              <a:rPr lang="fr-CH" sz="1600" dirty="0"/>
              <a:t> R-CNN (2-stage)</a:t>
            </a:r>
            <a:endParaRPr lang="en-PT" sz="1600" dirty="0"/>
          </a:p>
          <a:p>
            <a:endParaRPr lang="en-PT" dirty="0"/>
          </a:p>
          <a:p>
            <a:pPr lvl="1"/>
            <a:endParaRPr lang="en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05FE0-46D0-9A50-21E8-03B9ED89DE32}"/>
              </a:ext>
            </a:extLst>
          </p:cNvPr>
          <p:cNvSpPr txBox="1"/>
          <p:nvPr/>
        </p:nvSpPr>
        <p:spPr>
          <a:xfrm>
            <a:off x="6339016" y="1825625"/>
            <a:ext cx="329925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sz="2400" dirty="0"/>
              <a:t>Good detection-precision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sz="2400" dirty="0"/>
              <a:t>Insufficient geometry-accuracy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sz="2400" dirty="0"/>
              <a:t>Robust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51524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28B7-C766-2F7C-3607-64D54999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341" y="2766218"/>
            <a:ext cx="2152135" cy="1325563"/>
          </a:xfrm>
        </p:spPr>
        <p:txBody>
          <a:bodyPr/>
          <a:lstStyle/>
          <a:p>
            <a:r>
              <a:rPr lang="en-PT" dirty="0"/>
              <a:t>System </a:t>
            </a:r>
            <a:br>
              <a:rPr lang="en-PT" dirty="0"/>
            </a:br>
            <a:r>
              <a:rPr lang="en-PT" dirty="0"/>
              <a:t>Pipeline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9A60E42-1B55-CEC4-8920-4FE8F09E6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0216" y="425890"/>
            <a:ext cx="3558745" cy="5832916"/>
          </a:xfrm>
        </p:spPr>
      </p:pic>
    </p:spTree>
    <p:extLst>
      <p:ext uri="{BB962C8B-B14F-4D97-AF65-F5344CB8AC3E}">
        <p14:creationId xmlns:p14="http://schemas.microsoft.com/office/powerpoint/2010/main" val="161891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100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ATCS – Automatic Target Classification System</vt:lpstr>
      <vt:lpstr>Motivation</vt:lpstr>
      <vt:lpstr>Goal</vt:lpstr>
      <vt:lpstr>Accuracy Requirements</vt:lpstr>
      <vt:lpstr>Classical Approaches</vt:lpstr>
      <vt:lpstr>Deep-Learning Approaches</vt:lpstr>
      <vt:lpstr>System 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Geyer</dc:creator>
  <cp:lastModifiedBy>Christian Geyer</cp:lastModifiedBy>
  <cp:revision>3</cp:revision>
  <dcterms:created xsi:type="dcterms:W3CDTF">2026-01-25T19:12:41Z</dcterms:created>
  <dcterms:modified xsi:type="dcterms:W3CDTF">2026-01-27T12:29:08Z</dcterms:modified>
</cp:coreProperties>
</file>